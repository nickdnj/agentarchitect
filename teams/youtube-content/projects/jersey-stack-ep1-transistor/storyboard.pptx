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The Jersey Stack — Ep 1: The Transistor</a:t>
            </a:r>
          </a:p>
        </p:txBody>
      </p:sp>
      <p:sp>
        <p:nvSpPr>
          <p:cNvPr id="3" name="Subtitle 2"/>
          <p:cNvSpPr>
            <a:spLocks noGrp="1"/>
          </p:cNvSpPr>
          <p:nvPr>
            <p:ph type="subTitle" idx="1"/>
          </p:nvPr>
        </p:nvSpPr>
        <p:spPr/>
        <p:txBody>
          <a:bodyPr/>
          <a:lstStyle/>
          <a:p>
            <a:r>
              <a:t>Documentary · 14:45 narration · Gate 2 revision</a:t>
            </a:r>
          </a:p>
          <a:p>
            <a:r>
              <a:t>2026-04-19 · 30 scenes / 12 chapters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Overview (Gate 2)</a:t>
            </a:r>
          </a:p>
        </p:txBody>
      </p:sp>
      <p:sp>
        <p:nvSpPr>
          <p:cNvPr id="3" name="Content Placeholder 2"/>
          <p:cNvSpPr>
            <a:spLocks noGrp="1"/>
          </p:cNvSpPr>
          <p:nvPr>
            <p:ph idx="1"/>
          </p:nvPr>
        </p:nvSpPr>
        <p:spPr/>
        <p:txBody>
          <a:bodyPr/>
          <a:lstStyle/>
          <a:p>
            <a:r>
              <a:t>Ch 1: Cold Open — The Severance Hook (0:00 – 1:30) — 4 scene(s)</a:t>
            </a:r>
          </a:p>
          <a:p>
            <a:r>
              <a:t>Ch 2: The Cathedral (1:30 – 3:15) — 3 scene(s)</a:t>
            </a:r>
          </a:p>
          <a:p>
            <a:r>
              <a:t>Ch 3: The Problem (3:15 – 4:25) — 3 scene(s)</a:t>
            </a:r>
          </a:p>
          <a:p>
            <a:r>
              <a:t>Ch 4: The Trio (4:25 – 6:10) — 3 scene(s)</a:t>
            </a:r>
          </a:p>
          <a:p>
            <a:r>
              <a:t>Ch 5: December 23, 1947 — The Bench (6:10 – 7:55) — 3 scene(s)</a:t>
            </a:r>
          </a:p>
          <a:p>
            <a:r>
              <a:t>Ch 6: The Fracture (7:55 – 9:05) — 3 scene(s)</a:t>
            </a:r>
          </a:p>
          <a:p>
            <a:r>
              <a:t>Ch 7: The Announcement &amp; The Cold War Customer (9:05 – 10:30) — 3 scene(s)</a:t>
            </a:r>
          </a:p>
          <a:p>
            <a:r>
              <a:t>Ch 8: 1956 — The Nobel and the Decree (10:30 – 11:25) — 2 scene(s)</a:t>
            </a:r>
          </a:p>
          <a:p>
            <a:r>
              <a:t>Ch 9: The Diaspora (11:25 – 12:35) — 2 scene(s)</a:t>
            </a:r>
          </a:p>
          <a:p>
            <a:r>
              <a:t>Ch 10: What It Became (12:35 – 13:15) — 2 scene(s)</a:t>
            </a:r>
          </a:p>
          <a:p>
            <a:r>
              <a:t>Ch 11: Closing Bookend (13:15 – 13:45) — 1 scene(s)</a:t>
            </a:r>
          </a:p>
          <a:p>
            <a:r>
              <a:t>Ch 12: Ep 2 Outro (13:45 – 13:55) — 1 scene(s)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Gate 2 Revision Summary</a:t>
            </a:r>
          </a:p>
        </p:txBody>
      </p:sp>
      <p:sp>
        <p:nvSpPr>
          <p:cNvPr id="3" name="Content Placeholder 2"/>
          <p:cNvSpPr>
            <a:spLocks noGrp="1"/>
          </p:cNvSpPr>
          <p:nvPr>
            <p:ph idx="1"/>
          </p:nvPr>
        </p:nvSpPr>
        <p:spPr/>
        <p:txBody>
          <a:bodyPr/>
          <a:lstStyle/>
          <a:p>
            <a:r>
              <a:t>Ep 2 renamed: 'The Board' → 'The Circuit Board' (disambiguation).</a:t>
            </a:r>
          </a:p>
          <a:p>
            <a:r>
              <a:t>Chapter 9 consolidated: old Scenes 25 + 26 combined into new Scene 25.</a:t>
            </a:r>
          </a:p>
          <a:p>
            <a:r>
              <a:t>Scene count: 30 (was 31).</a:t>
            </a:r>
          </a:p>
          <a:p>
            <a:r>
              <a:t>Narration runtime: ~14:45 (was 16:42 actual at Gate 2 audio review).</a:t>
            </a:r>
          </a:p>
          <a:p>
            <a:r>
              <a:t>Visual budget: ~14:10 (unchanged). Narration now within 1 handle of budget.</a:t>
            </a:r>
          </a:p>
          <a:p>
            <a:r>
              <a:t>Targeted trims in Scenes 5, 6, 7, 8, 9, 13, 17, 18, 21, 24, 27.</a:t>
            </a:r>
          </a:p>
          <a:p>
            <a:r>
              <a:t>Re-record required for 14 scenes; 16 scenes byte-identical to Gate 1 lock.</a:t>
            </a:r>
          </a:p>
          <a:p>
            <a:r>
              <a:t>Chapter 9 thesis line PRESERVED VERBATIM: 'Silicon Valley came from Jersey. It just built a better brand.'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1: Cold Open — The Severance Hook</a:t>
            </a:r>
          </a:p>
        </p:txBody>
      </p:sp>
      <p:sp>
        <p:nvSpPr>
          <p:cNvPr id="3" name="Text Placeholder 2"/>
          <p:cNvSpPr>
            <a:spLocks noGrp="1"/>
          </p:cNvSpPr>
          <p:nvPr>
            <p:ph type="body" idx="1"/>
          </p:nvPr>
        </p:nvSpPr>
        <p:spPr/>
        <p:txBody>
          <a:bodyPr/>
          <a:lstStyle/>
          <a:p>
            <a:r>
              <a:t>0:00 – 1:30 · 4 scene(s)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1: Drone Reveal — Transistor Monument &amp; Bell Works (HD) (0:00-0:25 (25s))</a:t>
            </a:r>
          </a:p>
        </p:txBody>
      </p:sp>
      <p:sp>
        <p:nvSpPr>
          <p:cNvPr id="3" name="Content Placeholder 2"/>
          <p:cNvSpPr>
            <a:spLocks noGrp="1"/>
          </p:cNvSpPr>
          <p:nvPr>
            <p:ph idx="1"/>
          </p:nvPr>
        </p:nvSpPr>
        <p:spPr/>
        <p:txBody>
          <a:bodyPr/>
          <a:lstStyle/>
          <a:p>
            <a:r>
              <a:t>NARRATION: "You might recognize this building."</a:t>
            </a:r>
          </a:p>
          <a:p>
            <a:r>
              <a:t>VISUAL: Creator drone footage. Extreme close on the Transistor Monument sculpture at Holmdel — the three legs reading clearly in frame. Slow, smooth pullback. The Saarinen-designed mirrored rectangle of Bell Works reveals itself behind it, catching...</a:t>
            </a:r>
          </a:p>
          <a:p>
            <a:r>
              <a:t>MOTION: static</a:t>
            </a:r>
          </a:p>
          <a:p>
            <a:r>
              <a:t>TEXT OVERLAY: (none)</a:t>
            </a:r>
          </a:p>
          <a:p>
            <a:r>
              <a:t>MUSIC: Fades in — ambient synth pad, one sustained note, like waking up.</a:t>
            </a:r>
          </a:p>
          <a:p>
            <a:r>
              <a:t>TRANSITION: Hard cut to Severance reveal</a:t>
            </a:r>
          </a:p>
          <a:p>
            <a:r>
              <a:t>AUDIO: Gate 1 WAV OK — no re-record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2: The Severance Reveal (HD / pop culture) (0:25-0:50 (25s))</a:t>
            </a:r>
          </a:p>
        </p:txBody>
      </p:sp>
      <p:sp>
        <p:nvSpPr>
          <p:cNvPr id="3" name="Content Placeholder 2"/>
          <p:cNvSpPr>
            <a:spLocks noGrp="1"/>
          </p:cNvSpPr>
          <p:nvPr>
            <p:ph idx="1"/>
          </p:nvPr>
        </p:nvSpPr>
        <p:spPr/>
        <p:txBody>
          <a:bodyPr/>
          <a:lstStyle/>
          <a:p>
            <a:r>
              <a:t>NARRATION: "That's the Lumon Industries headquarters from Severance. What you probably don't know is what it used to be. This was Bell Labs Holmdel. And the monument out front — the one shaped like a transistor — marks something that was invented twenty miles north of here, on December twenty-third, nineteen forty-seven."</a:t>
            </a:r>
          </a:p>
          <a:p>
            <a:r>
              <a:t>VISUAL: Hard cut from the drone shot of Bell Works to a recognizable Lumon-atrium still / brief Severance clip (fair-use documentary commentary). Quick beat, then cut back to an archival black-and-white photograph of Bell Labs Holmdel circa late 19...</a:t>
            </a:r>
          </a:p>
          <a:p>
            <a:r>
              <a:t>MOTION: gentle-zoom</a:t>
            </a:r>
          </a:p>
          <a:p>
            <a:r>
              <a:t>TEXT OVERLAY: BELL LABS, HOLMDEL NJ (lower-third on the archival photo cut)</a:t>
            </a:r>
          </a:p>
          <a:p>
            <a:r>
              <a:t>MUSIC: Holds the single note. A small synth accent on the Severance cut.</a:t>
            </a:r>
          </a:p>
          <a:p>
            <a:r>
              <a:t>TRANSITION: Crossfade 1s</a:t>
            </a:r>
          </a:p>
          <a:p>
            <a:r>
              <a:t>AUDIO: Gate 1 WAV OK — no re-record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3: Modern-Life Transistor Montage (present day) (0:50-1:15 (25s))</a:t>
            </a:r>
          </a:p>
        </p:txBody>
      </p:sp>
      <p:sp>
        <p:nvSpPr>
          <p:cNvPr id="3" name="Content Placeholder 2"/>
          <p:cNvSpPr>
            <a:spLocks noGrp="1"/>
          </p:cNvSpPr>
          <p:nvPr>
            <p:ph idx="1"/>
          </p:nvPr>
        </p:nvSpPr>
        <p:spPr/>
        <p:txBody>
          <a:bodyPr/>
          <a:lstStyle/>
          <a:p>
            <a:r>
              <a:t>NARRATION: "Every one of these exists because of what three men did in a single room in New Jersey, in about ten minutes, seventy-nine years ago. The twentieth century pivoted on a bench in a basement. This is where it started."</a:t>
            </a:r>
          </a:p>
          <a:p>
            <a:r>
              <a:t>VISUAL: Four fast cuts, ~6s each. 1) Modern smartphone in a hand, screen-on. 2) Interior of a hyperscale server room — blue LEDs receding into the dark. 3) The Netflix home-screen UI on a television. 4) NASA's Mars rover self-portrait on the Martia...</a:t>
            </a:r>
          </a:p>
          <a:p>
            <a:r>
              <a:t>MOTION: gentle-zoom</a:t>
            </a:r>
          </a:p>
          <a:p>
            <a:r>
              <a:t>TEXT OVERLAY: (none — fast cuts carry themselves)</a:t>
            </a:r>
          </a:p>
          <a:p>
            <a:r>
              <a:t>MUSIC: Builds — light percussion, forward motion.</a:t>
            </a:r>
          </a:p>
          <a:p>
            <a:r>
              <a:t>TRANSITION: Hard cut to black for title card</a:t>
            </a:r>
          </a:p>
          <a:p>
            <a:r>
              <a:t>AUDIO: Gate 1 WAV OK — no re-record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4: Title Card (1:15-1:30 (15s))</a:t>
            </a:r>
          </a:p>
        </p:txBody>
      </p:sp>
      <p:sp>
        <p:nvSpPr>
          <p:cNvPr id="3" name="Content Placeholder 2"/>
          <p:cNvSpPr>
            <a:spLocks noGrp="1"/>
          </p:cNvSpPr>
          <p:nvPr>
            <p:ph idx="1"/>
          </p:nvPr>
        </p:nvSpPr>
        <p:spPr/>
        <p:txBody>
          <a:bodyPr/>
          <a:lstStyle/>
          <a:p>
            <a:r>
              <a:t>NARRATION: "(beat of silence — let the card breathe)"</a:t>
            </a:r>
          </a:p>
          <a:p>
            <a:r>
              <a:t>VISUAL: Hard cut to black. Title card animates in — heavy serif main title, thinner sans subtitle. Black with subtle noise texture. Small series mark.</a:t>
            </a:r>
          </a:p>
          <a:p>
            <a:r>
              <a:t>MOTION: static</a:t>
            </a:r>
          </a:p>
          <a:p>
            <a:r>
              <a:t>TEXT OVERLAY: THE JERSEY STACK (main) / EPISODE 1 — THE TRANSISTOR (subtitle)</a:t>
            </a:r>
          </a:p>
          <a:p>
            <a:r>
              <a:t>MUSIC: Resolves on a single sustained note, then drops into a low bed.</a:t>
            </a:r>
          </a:p>
          <a:p>
            <a:r>
              <a:t>TRANSITION: Crossfade 1s to Chapter 2</a:t>
            </a:r>
          </a:p>
          <a:p>
            <a:r>
              <a:t>AUDIO: Gate 1 WAV OK — no re-record (silence beat)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2: The Cathedral</a:t>
            </a:r>
          </a:p>
        </p:txBody>
      </p:sp>
      <p:sp>
        <p:nvSpPr>
          <p:cNvPr id="3" name="Text Placeholder 2"/>
          <p:cNvSpPr>
            <a:spLocks noGrp="1"/>
          </p:cNvSpPr>
          <p:nvPr>
            <p:ph type="body" idx="1"/>
          </p:nvPr>
        </p:nvSpPr>
        <p:spPr/>
        <p:txBody>
          <a:bodyPr/>
          <a:lstStyle/>
          <a:p>
            <a:r>
              <a:t>1:30 – 3:15 · 3 scene(s)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5: Establishing Murray Hill (MH) (1:30-2:00 (30s))</a:t>
            </a:r>
          </a:p>
        </p:txBody>
      </p:sp>
      <p:sp>
        <p:nvSpPr>
          <p:cNvPr id="3" name="Content Placeholder 2"/>
          <p:cNvSpPr>
            <a:spLocks noGrp="1"/>
          </p:cNvSpPr>
          <p:nvPr>
            <p:ph idx="1"/>
          </p:nvPr>
        </p:nvSpPr>
        <p:spPr/>
        <p:txBody>
          <a:bodyPr/>
          <a:lstStyle/>
          <a:p>
            <a:r>
              <a:t>NARRATION: "Twenty miles north of Holmdel is the building where it actually happened. Bell Laboratories, Murray Hill, New Jersey. Ten miles west of Manhattan, set back from a quiet suburban road. It looked like a small college campus. It wasn't. It was the research arm of AT&amp;T, the American telephone monopoly — and inside it was a..."</a:t>
            </a:r>
          </a:p>
          <a:p>
            <a:r>
              <a:t>VISUAL: Archival black-and-white aerial of Bell Labs Murray Hill, late 1940s (Gottscho-Schleisner / LOC or AT&amp;T Archives). Slow Ken Burns zoom-in. Cut to a modern exterior of the same complex — Nokia Bell Labs signage visible — to close the 80-year...</a:t>
            </a:r>
          </a:p>
          <a:p>
            <a:r>
              <a:t>MOTION: ken-burns-zoom</a:t>
            </a:r>
          </a:p>
          <a:p>
            <a:r>
              <a:t>TEXT OVERLAY: BELL LABS — MURRAY HILL, NJ — c. 1947 (lower-third)</a:t>
            </a:r>
          </a:p>
          <a:p>
            <a:r>
              <a:t>MUSIC: Warm, orchestral pad, slight nostalgia.</a:t>
            </a:r>
          </a:p>
          <a:p>
            <a:r>
              <a:t>TRANSITION: Crossfade 1s</a:t>
            </a:r>
          </a:p>
          <a:p>
            <a:r>
              <a:t>AUDIO: Gate 2 RE-RECORD — slight tighten (final clause restructured)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6: The Monopoly Bet &amp; Kelly (MH) (2:00-2:30 (30s))</a:t>
            </a:r>
          </a:p>
        </p:txBody>
      </p:sp>
      <p:sp>
        <p:nvSpPr>
          <p:cNvPr id="3" name="Content Placeholder 2"/>
          <p:cNvSpPr>
            <a:spLocks noGrp="1"/>
          </p:cNvSpPr>
          <p:nvPr>
            <p:ph idx="1"/>
          </p:nvPr>
        </p:nvSpPr>
        <p:spPr/>
        <p:txBody>
          <a:bodyPr/>
          <a:lstStyle/>
          <a:p>
            <a:r>
              <a:t>NARRATION: "AT&amp;T was a regulated monopoly. Stable profits, predictable profits — and a portion of those profits was, by design, funneled into research with no deadline. The man who decided what to do with that money was Mervin Kelly, the Director of Research. Kelly was an engineer's engineer, but he thought like a gambler. And in..."</a:t>
            </a:r>
          </a:p>
          <a:p>
            <a:r>
              <a:t>VISUAL: Diagram animation — AT&amp;T → Western Electric → Bell Labs, three tiers. Dissolve to a period photograph of a telephone switchboard operator. Dissolve to Mervin Kelly's PD magazine portrait.</a:t>
            </a:r>
          </a:p>
          <a:p>
            <a:r>
              <a:t>MOTION: ken-burns-zoom</a:t>
            </a:r>
          </a:p>
          <a:p>
            <a:r>
              <a:t>TEXT OVERLAY: MERVIN KELLY — DIRECTOR OF RESEARCH, BELL LABS (on Kelly portrait)</a:t>
            </a:r>
          </a:p>
          <a:p>
            <a:r>
              <a:t>MUSIC: Steady, curious.</a:t>
            </a:r>
          </a:p>
          <a:p>
            <a:r>
              <a:t>TRANSITION: Crossfade 1s</a:t>
            </a:r>
          </a:p>
          <a:p>
            <a:r>
              <a:t>AUDIO: Gate 2 RE-RECORD — tightened; removed 'enormous' and 'No quarterly targets.'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7: The 700-Foot Corridor (MH) (2:30-3:15 (45s))</a:t>
            </a:r>
          </a:p>
        </p:txBody>
      </p:sp>
      <p:sp>
        <p:nvSpPr>
          <p:cNvPr id="3" name="Content Placeholder 2"/>
          <p:cNvSpPr>
            <a:spLocks noGrp="1"/>
          </p:cNvSpPr>
          <p:nvPr>
            <p:ph idx="1"/>
          </p:nvPr>
        </p:nvSpPr>
        <p:spPr/>
        <p:txBody>
          <a:bodyPr/>
          <a:lstStyle/>
          <a:p>
            <a:r>
              <a:t>NARRATION: "Kelly believed the next revolution in communications would be solid-state — no moving parts, no glowing filaments. And he built the building to produce it. There was a corridor on the first floor of Murray Hill that ran seven hundred feet — nearly the length of two football fields. Physicists had offices on that corrid..."</a:t>
            </a:r>
          </a:p>
          <a:p>
            <a:r>
              <a:t>VISUAL: AI-generated reconstruction — looking down a 1940s research-building corridor, nearly a thousand feet long, men in white shirts and ties passing between laboratory doorways, fluorescent tube lighting, the hallway vanishing to a point. Slow...</a:t>
            </a:r>
          </a:p>
          <a:p>
            <a:r>
              <a:t>MOTION: ken-burns-zoom</a:t>
            </a:r>
          </a:p>
          <a:p>
            <a:r>
              <a:t>TEXT OVERLAY: THE 700-FOOT CORRIDOR (3s sting mid-scene)</a:t>
            </a:r>
          </a:p>
          <a:p>
            <a:r>
              <a:t>MUSIC: Builds slightly. Warm bed builds.</a:t>
            </a:r>
          </a:p>
          <a:p>
            <a:r>
              <a:t>TRANSITION: Crossfade 1s</a:t>
            </a:r>
          </a:p>
          <a:p>
            <a:r>
              <a:t>AUDIO: Gate 2 RE-RECORD — trimmed 'Kelly designed it that way on purpose' sentence + 'inside that building' + 'solid-state physics group' compressed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3: The Problem</a:t>
            </a:r>
          </a:p>
        </p:txBody>
      </p:sp>
      <p:sp>
        <p:nvSpPr>
          <p:cNvPr id="3" name="Text Placeholder 2"/>
          <p:cNvSpPr>
            <a:spLocks noGrp="1"/>
          </p:cNvSpPr>
          <p:nvPr>
            <p:ph type="body" idx="1"/>
          </p:nvPr>
        </p:nvSpPr>
        <p:spPr/>
        <p:txBody>
          <a:bodyPr/>
          <a:lstStyle/>
          <a:p>
            <a:r>
              <a:t>3:15 – 4:25 · 3 scene(s)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8: The Vacuum Tube Problem (MH era) (3:15-3:40 (25s))</a:t>
            </a:r>
          </a:p>
        </p:txBody>
      </p:sp>
      <p:sp>
        <p:nvSpPr>
          <p:cNvPr id="3" name="Content Placeholder 2"/>
          <p:cNvSpPr>
            <a:spLocks noGrp="1"/>
          </p:cNvSpPr>
          <p:nvPr>
            <p:ph idx="1"/>
          </p:nvPr>
        </p:nvSpPr>
        <p:spPr/>
        <p:txBody>
          <a:bodyPr/>
          <a:lstStyle/>
          <a:p>
            <a:r>
              <a:t>NARRATION: "Every long-distance phone call in America in nineteen forty-five traveled along a copper line, and every few dozen miles, that signal got weaker and needed to be amplified. The device that did the amplifying was the vacuum tube. Vacuum tubes worked — but barely. They were the size of a light bulb. They ran hot. They bu..."</a:t>
            </a:r>
          </a:p>
          <a:p>
            <a:r>
              <a:t>VISUAL: Macro slow-motion shot of a single vacuum tube warming up, filament glowing orange. Pull back to an archival photograph of a 1940s telephone amplifier rack — hundreds of tubes.</a:t>
            </a:r>
          </a:p>
          <a:p>
            <a:r>
              <a:t>MOTION: ken-burns-zoom</a:t>
            </a:r>
          </a:p>
          <a:p>
            <a:r>
              <a:t>TEXT OVERLAY: (none)</a:t>
            </a:r>
          </a:p>
          <a:p>
            <a:r>
              <a:t>MUSIC: Tension, low strings.</a:t>
            </a:r>
          </a:p>
          <a:p>
            <a:r>
              <a:t>TRANSITION: Crossfade 1s</a:t>
            </a:r>
          </a:p>
          <a:p>
            <a:r>
              <a:t>AUDIO: Gate 2 RE-RECORD — removed 'To understand why Kelly...' framing + 'cook an egg' + 'enormous amounts of power'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9: The Semiconductor Idea (diagram) (3:40-4:05 (25s))</a:t>
            </a:r>
          </a:p>
        </p:txBody>
      </p:sp>
      <p:sp>
        <p:nvSpPr>
          <p:cNvPr id="3" name="Content Placeholder 2"/>
          <p:cNvSpPr>
            <a:spLocks noGrp="1"/>
          </p:cNvSpPr>
          <p:nvPr>
            <p:ph idx="1"/>
          </p:nvPr>
        </p:nvSpPr>
        <p:spPr/>
        <p:txBody>
          <a:bodyPr/>
          <a:lstStyle/>
          <a:p>
            <a:r>
              <a:t>NARRATION: "Kelly's bet was this: somewhere inside a class of materials called semiconductors — germanium, silicon — there was a way to move electrons around a tiny crystal that would do the job of a vacuum tube, with none of the heat, the size, or the fragility. Shockley had an idea in nineteen forty-five — a thing he called a fi..."</a:t>
            </a:r>
          </a:p>
          <a:p>
            <a:r>
              <a:t>VISUAL: Clean 2D animation — electrons as blue dots moving through a hex lattice, holes as red gaps. Dissolve to a photorealistic block of germanium rotating slowly against a black background.</a:t>
            </a:r>
          </a:p>
          <a:p>
            <a:r>
              <a:t>MOTION: gentle-zoom</a:t>
            </a:r>
          </a:p>
          <a:p>
            <a:r>
              <a:t>TEXT OVERLAY: ELECTRON / HOLE / GERMANIUM (minimal labels)</a:t>
            </a:r>
          </a:p>
          <a:p>
            <a:r>
              <a:t>MUSIC: Curious, discovery register.</a:t>
            </a:r>
          </a:p>
          <a:p>
            <a:r>
              <a:t>TRANSITION: Crossfade 1s</a:t>
            </a:r>
          </a:p>
          <a:p>
            <a:r>
              <a:t>AUDIO: Gate 2 RE-RECORD — removed 'No one quite knew how.' and 'do the same job as' tightened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10: The Wall (MH) (4:05-4:25 (20s))</a:t>
            </a:r>
          </a:p>
        </p:txBody>
      </p:sp>
      <p:sp>
        <p:nvSpPr>
          <p:cNvPr id="3" name="Content Placeholder 2"/>
          <p:cNvSpPr>
            <a:spLocks noGrp="1"/>
          </p:cNvSpPr>
          <p:nvPr>
            <p:ph idx="1"/>
          </p:nvPr>
        </p:nvSpPr>
        <p:spPr/>
        <p:txBody>
          <a:bodyPr/>
          <a:lstStyle/>
          <a:p>
            <a:r>
              <a:t>NARRATION: "By the summer of nineteen forty-seven, Shockley's group had been chasing the solid-state amplifier for two years. They had almost nothing to show for it."</a:t>
            </a:r>
          </a:p>
          <a:p>
            <a:r>
              <a:t>VISUAL: Archival Bell Labs bench photograph from the late 1940s (the 1948 trio photo cropped wide, or a Commons Murray Hill lab interior). AI-generated close-up of a notebook page with equations crossed out in black ink.</a:t>
            </a:r>
          </a:p>
          <a:p>
            <a:r>
              <a:t>MOTION: ken-burns-zoom</a:t>
            </a:r>
          </a:p>
          <a:p>
            <a:r>
              <a:t>TEXT OVERLAY: (none)</a:t>
            </a:r>
          </a:p>
          <a:p>
            <a:r>
              <a:t>MUSIC: Drops to near silence.</a:t>
            </a:r>
          </a:p>
          <a:p>
            <a:r>
              <a:t>TRANSITION: Crossfade 1s</a:t>
            </a:r>
          </a:p>
          <a:p>
            <a:r>
              <a:t>AUDIO: Gate 1 WAV OK — no re-record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4: The Trio</a:t>
            </a:r>
          </a:p>
        </p:txBody>
      </p:sp>
      <p:sp>
        <p:nvSpPr>
          <p:cNvPr id="3" name="Text Placeholder 2"/>
          <p:cNvSpPr>
            <a:spLocks noGrp="1"/>
          </p:cNvSpPr>
          <p:nvPr>
            <p:ph type="body" idx="1"/>
          </p:nvPr>
        </p:nvSpPr>
        <p:spPr/>
        <p:txBody>
          <a:bodyPr/>
          <a:lstStyle/>
          <a:p>
            <a:r>
              <a:t>4:25 – 6:10 · 3 scene(s)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11: Bardeen (MH) (4:25-4:50 (25s))</a:t>
            </a:r>
          </a:p>
        </p:txBody>
      </p:sp>
      <p:sp>
        <p:nvSpPr>
          <p:cNvPr id="3" name="Content Placeholder 2"/>
          <p:cNvSpPr>
            <a:spLocks noGrp="1"/>
          </p:cNvSpPr>
          <p:nvPr>
            <p:ph idx="1"/>
          </p:nvPr>
        </p:nvSpPr>
        <p:spPr/>
        <p:txBody>
          <a:bodyPr/>
          <a:lstStyle/>
          <a:p>
            <a:r>
              <a:t>NARRATION: "John Bardeen was thirty-eight years old, born in Madison, Wisconsin, the son of a university dean. He was famously quiet — so quiet that colleagues sometimes forgot he was in the room. He did his best thinking in equations, and he did not like to be rushed. Bardeen would, much later, become the only person in history t..."</a:t>
            </a:r>
          </a:p>
          <a:p>
            <a:r>
              <a:t>VISUAL: John Bardeen's 1956 Nobel portrait (PD). Slow zoom. Cut to AI-generated scene — a man at a blackboard, chalk in hand, solving equations in complete silence.</a:t>
            </a:r>
          </a:p>
          <a:p>
            <a:r>
              <a:t>MOTION: ken-burns-zoom</a:t>
            </a:r>
          </a:p>
          <a:p>
            <a:r>
              <a:t>TEXT OVERLAY: JOHN BARDEEN — THEORIST (lower-third)</a:t>
            </a:r>
          </a:p>
          <a:p>
            <a:r>
              <a:t>MUSIC: Gentle, contemplative.</a:t>
            </a:r>
          </a:p>
          <a:p>
            <a:r>
              <a:t>TRANSITION: Crossfade 1s</a:t>
            </a:r>
          </a:p>
          <a:p>
            <a:r>
              <a:t>AUDIO: Gate 1 WAV OK — no re-record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12: Brattain (MH) (4:50-5:15 (25s))</a:t>
            </a:r>
          </a:p>
        </p:txBody>
      </p:sp>
      <p:sp>
        <p:nvSpPr>
          <p:cNvPr id="3" name="Content Placeholder 2"/>
          <p:cNvSpPr>
            <a:spLocks noGrp="1"/>
          </p:cNvSpPr>
          <p:nvPr>
            <p:ph idx="1"/>
          </p:nvPr>
        </p:nvSpPr>
        <p:spPr/>
        <p:txBody>
          <a:bodyPr/>
          <a:lstStyle/>
          <a:p>
            <a:r>
              <a:t>NARRATION: "Walter Brattain was Bardeen's opposite — loud, funny, raised on a ranch in Washington State. Brattain had what Bell Labs people called 'the best pair of hands in the building.' He could assemble an experiment that no one else could get to work. While Bardeen reasoned about it on a chalkboard, Brattain built it on a ben..."</a:t>
            </a:r>
          </a:p>
          <a:p>
            <a:r>
              <a:t>VISUAL: Walter Brattain's 1956 Nobel portrait (PD). Slow zoom. AI-generated scene — hands under a warm lab light, carefully adjusting a probe against a metal surface.</a:t>
            </a:r>
          </a:p>
          <a:p>
            <a:r>
              <a:t>MOTION: ken-burns-zoom</a:t>
            </a:r>
          </a:p>
          <a:p>
            <a:r>
              <a:t>TEXT OVERLAY: WALTER BRATTAIN — EXPERIMENTALIST</a:t>
            </a:r>
          </a:p>
          <a:p>
            <a:r>
              <a:t>MUSIC: Continues gently, hands-on feel.</a:t>
            </a:r>
          </a:p>
          <a:p>
            <a:r>
              <a:t>TRANSITION: Crossfade 1s</a:t>
            </a:r>
          </a:p>
          <a:p>
            <a:r>
              <a:t>AUDIO: Gate 1 WAV OK — no re-record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13: Shockley &amp; The Breakthrough Month (MH) (5:15-6:10 (55s))</a:t>
            </a:r>
          </a:p>
        </p:txBody>
      </p:sp>
      <p:sp>
        <p:nvSpPr>
          <p:cNvPr id="3" name="Content Placeholder 2"/>
          <p:cNvSpPr>
            <a:spLocks noGrp="1"/>
          </p:cNvSpPr>
          <p:nvPr>
            <p:ph idx="1"/>
          </p:nvPr>
        </p:nvSpPr>
        <p:spPr/>
        <p:txBody>
          <a:bodyPr/>
          <a:lstStyle/>
          <a:p>
            <a:r>
              <a:t>NARRATION: "Their boss, William Shockley, was thirty-seven — a brilliant theoretical physicist, already ambitious, already difficult. He led the group, but he traveled often, and he spent less and less time at the bench. In the fall of nineteen forty-seven, with Shockley mostly out of the building, Bardeen had the insight that unl..."</a:t>
            </a:r>
          </a:p>
          <a:p>
            <a:r>
              <a:t>VISUAL: William Shockley's 1959 PD blackboard-lecture photo. Slightly cooler grade. Dissolve to AI-generated scene — Bardeen writing a key insight in a notebook, dated 'November 1947.' Chalkboard behind with surface-state diagrams.</a:t>
            </a:r>
          </a:p>
          <a:p>
            <a:r>
              <a:t>MOTION: ken-burns-zoom</a:t>
            </a:r>
          </a:p>
          <a:p>
            <a:r>
              <a:t>TEXT OVERLAY: WILLIAM SHOCKLEY — TEAM LEAD (first 10s), then BARDEEN'S SURFACE-STATE INSIGHT — NOVEMBER 1947 (next 10s)</a:t>
            </a:r>
          </a:p>
          <a:p>
            <a:r>
              <a:t>MUSIC: Tension resolves into hope.</a:t>
            </a:r>
          </a:p>
          <a:p>
            <a:r>
              <a:t>TRANSITION: Slower crossfade 1.5s (chapter weight)</a:t>
            </a:r>
          </a:p>
          <a:p>
            <a:r>
              <a:t>AUDIO: Gate 2 RE-RECORD — dropped 'directly into the bulk of the crystal,' qualifier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5: December 23, 1947 — The Bench</a:t>
            </a:r>
          </a:p>
        </p:txBody>
      </p:sp>
      <p:sp>
        <p:nvSpPr>
          <p:cNvPr id="3" name="Text Placeholder 2"/>
          <p:cNvSpPr>
            <a:spLocks noGrp="1"/>
          </p:cNvSpPr>
          <p:nvPr>
            <p:ph type="body" idx="1"/>
          </p:nvPr>
        </p:nvSpPr>
        <p:spPr/>
        <p:txBody>
          <a:bodyPr/>
          <a:lstStyle/>
          <a:p>
            <a:r>
              <a:t>6:10 – 7:55 · 3 scene(s)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14: The Setup (MH) (6:10-6:40 (30s))</a:t>
            </a:r>
          </a:p>
        </p:txBody>
      </p:sp>
      <p:sp>
        <p:nvSpPr>
          <p:cNvPr id="3" name="Content Placeholder 2"/>
          <p:cNvSpPr>
            <a:spLocks noGrp="1"/>
          </p:cNvSpPr>
          <p:nvPr>
            <p:ph idx="1"/>
          </p:nvPr>
        </p:nvSpPr>
        <p:spPr/>
        <p:txBody>
          <a:bodyPr/>
          <a:lstStyle/>
          <a:p>
            <a:r>
              <a:t>NARRATION: "December twenty-third, nineteen forty-seven. The afternoon before Christmas Eve. In a basement room at Murray Hill, Walter Brattain laid out the final version of the device. It was absurdly small. A slab of germanium about the size of a thumbnail. A triangular plastic wedge, with two narrow strips of gold foil glued to..."</a:t>
            </a:r>
          </a:p>
          <a:p>
            <a:r>
              <a:t>VISUAL: Extreme macro. Photograph or museum shot of the actual 1947 point-contact transistor (Smithsonian / Commons `1st-Transistor.jpg`). Slow push in toward the gold contacts.</a:t>
            </a:r>
          </a:p>
          <a:p>
            <a:r>
              <a:t>MOTION: ken-burns-zoom</a:t>
            </a:r>
          </a:p>
          <a:p>
            <a:r>
              <a:t>TEXT OVERLAY: DECEMBER 23, 1947 — BELL LABS, MURRAY HILL, NEW JERSEY (full scene)</a:t>
            </a:r>
          </a:p>
          <a:p>
            <a:r>
              <a:t>MUSIC: Cold, minimal — a single piano note every few beats.</a:t>
            </a:r>
          </a:p>
          <a:p>
            <a:r>
              <a:t>TRANSITION: Crossfade 1s</a:t>
            </a:r>
          </a:p>
          <a:p>
            <a:r>
              <a:t>AUDIO: Gate 1 WAV OK — no re-record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15: The Demo (MH) — HERO SCENE (6:40-7:20 (40s))</a:t>
            </a:r>
          </a:p>
        </p:txBody>
      </p:sp>
      <p:sp>
        <p:nvSpPr>
          <p:cNvPr id="3" name="Content Placeholder 2"/>
          <p:cNvSpPr>
            <a:spLocks noGrp="1"/>
          </p:cNvSpPr>
          <p:nvPr>
            <p:ph idx="1"/>
          </p:nvPr>
        </p:nvSpPr>
        <p:spPr/>
        <p:txBody>
          <a:bodyPr/>
          <a:lstStyle/>
          <a:p>
            <a:r>
              <a:t>NARRATION: "Bardeen and Brattain invited a small group of colleagues and managers down to the lab. They connected the device into an audio circuit — a microphone on one end, a loudspeaker on the other. Brattain spoke into the microphone. And the room heard his voice come back out of the speaker, louder. Amplified by a factor of ab..."</a:t>
            </a:r>
          </a:p>
          <a:p>
            <a:r>
              <a:t>VISUAL: AI-generated wide shot — a small group of men in ties and white shirts gathered around a wooden bench in a basement laboratory. Brattain at the controls. An oscilloscope glowing green in foreground.</a:t>
            </a:r>
          </a:p>
          <a:p>
            <a:r>
              <a:t>MOTION: ken-burns-zoom</a:t>
            </a:r>
          </a:p>
          <a:p>
            <a:r>
              <a:t>TEXT OVERLAY: POWER GAIN: ~18x (stings on at the amplification beat, 4s)</a:t>
            </a:r>
          </a:p>
          <a:p>
            <a:r>
              <a:t>MUSIC: Holds on a single sustained note. SFX: soft tone swell at the 'amplified' beat — like a voice through a tinny speaker. This is the audible payoff.</a:t>
            </a:r>
          </a:p>
          <a:p>
            <a:r>
              <a:t>TRANSITION: Crossfade 1s</a:t>
            </a:r>
          </a:p>
          <a:p>
            <a:r>
              <a:t>AUDIO: Gate 1 WAV OK — no re-record (locked hero beat)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16: Bardeen Goes Home (domestic) (7:20-7:55 (35s))</a:t>
            </a:r>
          </a:p>
        </p:txBody>
      </p:sp>
      <p:sp>
        <p:nvSpPr>
          <p:cNvPr id="3" name="Content Placeholder 2"/>
          <p:cNvSpPr>
            <a:spLocks noGrp="1"/>
          </p:cNvSpPr>
          <p:nvPr>
            <p:ph idx="1"/>
          </p:nvPr>
        </p:nvSpPr>
        <p:spPr/>
        <p:txBody>
          <a:bodyPr/>
          <a:lstStyle/>
          <a:p>
            <a:r>
              <a:t>NARRATION: "Bardeen drove home that evening. He did not make a speech, he did not call a press conference. When his wife Jane asked him how his day had been, he is reported to have said, quote — 'we discovered something today.' Then he went to bed. The twentieth century had just pivoted in a basement in New Jersey, and the man who..."</a:t>
            </a:r>
          </a:p>
          <a:p>
            <a:r>
              <a:t>VISUAL: AI-generated — exterior of a modest post-war New Jersey colonial house at dusk, snow on the lawn, warm yellow light glowing from the kitchen window. Cut to interior — Bardeen at a kitchen table, his wife Jane pouring coffee. He says somethi...</a:t>
            </a:r>
          </a:p>
          <a:p>
            <a:r>
              <a:t>MOTION: ken-burns-zoom</a:t>
            </a:r>
          </a:p>
          <a:p>
            <a:r>
              <a:t>TEXT OVERLAY: Handwritten-style end-of-scene: 'We discovered something today.' — John Bardeen</a:t>
            </a:r>
          </a:p>
          <a:p>
            <a:r>
              <a:t>MUSIC: Resolves, warm and quiet.</a:t>
            </a:r>
          </a:p>
          <a:p>
            <a:r>
              <a:t>TRANSITION: Fade to black 1.5s — brief silence before Chapter 6</a:t>
            </a:r>
          </a:p>
          <a:p>
            <a:r>
              <a:t>AUDIO: Gate 1 WAV OK — no re-record (locked understated landing)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6: The Fracture</a:t>
            </a:r>
          </a:p>
        </p:txBody>
      </p:sp>
      <p:sp>
        <p:nvSpPr>
          <p:cNvPr id="3" name="Text Placeholder 2"/>
          <p:cNvSpPr>
            <a:spLocks noGrp="1"/>
          </p:cNvSpPr>
          <p:nvPr>
            <p:ph type="body" idx="1"/>
          </p:nvPr>
        </p:nvSpPr>
        <p:spPr/>
        <p:txBody>
          <a:bodyPr/>
          <a:lstStyle/>
          <a:p>
            <a:r>
              <a:t>7:55 – 9:05 · 3 scene(s)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17: Shockley Finds Out (MH → Chicago) (7:55-8:25 (30s))</a:t>
            </a:r>
          </a:p>
        </p:txBody>
      </p:sp>
      <p:sp>
        <p:nvSpPr>
          <p:cNvPr id="3" name="Content Placeholder 2"/>
          <p:cNvSpPr>
            <a:spLocks noGrp="1"/>
          </p:cNvSpPr>
          <p:nvPr>
            <p:ph idx="1"/>
          </p:nvPr>
        </p:nvSpPr>
        <p:spPr/>
        <p:txBody>
          <a:bodyPr/>
          <a:lstStyle/>
          <a:p>
            <a:r>
              <a:t>NARRATION: "William Shockley had not been in the lab on December twenty-third. He had been traveling. When he got back and learned what Bardeen and Brattain had done without him, he was, by every account, furious. He tried to get his name added to the patent application — alone. Bell Labs' lawyers looked at Shockley's own writings..."</a:t>
            </a:r>
          </a:p>
          <a:p>
            <a:r>
              <a:t>VISUAL: Shockley portrait, cooler palette. Dissolve to AI-generated — a man pacing a dim hotel room, cigarette in hand, papers scattered on the bed.</a:t>
            </a:r>
          </a:p>
          <a:p>
            <a:r>
              <a:t>MOTION: ken-burns-zoom</a:t>
            </a:r>
          </a:p>
          <a:p>
            <a:r>
              <a:t>TEXT OVERLAY: (none)</a:t>
            </a:r>
          </a:p>
          <a:p>
            <a:r>
              <a:t>MUSIC: Returns on a darker tone, low strings.</a:t>
            </a:r>
          </a:p>
          <a:p>
            <a:r>
              <a:t>TRANSITION: Crossfade 1s</a:t>
            </a:r>
          </a:p>
          <a:p>
            <a:r>
              <a:t>AUDIO: Gate 2 RE-RECORD — dropped 'He argued that the device was built on his theoretical groundwork.'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18: Four Weeks in Chicago (Chicago) (8:25-8:50 (25s))</a:t>
            </a:r>
          </a:p>
        </p:txBody>
      </p:sp>
      <p:sp>
        <p:nvSpPr>
          <p:cNvPr id="3" name="Content Placeholder 2"/>
          <p:cNvSpPr>
            <a:spLocks noGrp="1"/>
          </p:cNvSpPr>
          <p:nvPr>
            <p:ph idx="1"/>
          </p:nvPr>
        </p:nvSpPr>
        <p:spPr/>
        <p:txBody>
          <a:bodyPr/>
          <a:lstStyle/>
          <a:p>
            <a:r>
              <a:t>NARRATION: "So Shockley got on a train to Chicago, checked into a hotel room, and for four weeks — while his colleagues celebrated Christmas and New Year — he filled notebook after notebook, alone, out of pure competitive rage. On January twenty-third, nineteen forty-eight — exactly one month after the basement demo — Shockley had..."</a:t>
            </a:r>
          </a:p>
          <a:p>
            <a:r>
              <a:t>VISUAL: AI-generated — 1940s Chicago hotel room at night, snow visible through a tall window, a lone physicist at a wooden desk covered in notebook pages and hand-drawn diagrams. Banker's lamp. Cigarette smoke curling. Dissolve to AI macro — a hand...</a:t>
            </a:r>
          </a:p>
          <a:p>
            <a:r>
              <a:t>MOTION: ken-burns-zoom</a:t>
            </a:r>
          </a:p>
          <a:p>
            <a:r>
              <a:t>TEXT OVERLAY: CHICAGO — DEC 1947 / JAN 1948 (first); THE JUNCTION TRANSISTOR — JAN 23, 1948 (second)</a:t>
            </a:r>
          </a:p>
          <a:p>
            <a:r>
              <a:t>MUSIC: Builds, obsessive.</a:t>
            </a:r>
          </a:p>
          <a:p>
            <a:r>
              <a:t>TRANSITION: Crossfade 1s</a:t>
            </a:r>
          </a:p>
          <a:p>
            <a:r>
              <a:t>AUDIO: Gate 2 RE-RECORD — compressed date-range framing; removed 'designed a completely different kind of transistor. A better one.' into tighter flow</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19: The Team Breaks (MH) (8:50-9:05 (15s visual — narration carries through to next scene))</a:t>
            </a:r>
          </a:p>
        </p:txBody>
      </p:sp>
      <p:sp>
        <p:nvSpPr>
          <p:cNvPr id="3" name="Content Placeholder 2"/>
          <p:cNvSpPr>
            <a:spLocks noGrp="1"/>
          </p:cNvSpPr>
          <p:nvPr>
            <p:ph idx="1"/>
          </p:nvPr>
        </p:nvSpPr>
        <p:spPr/>
        <p:txBody>
          <a:bodyPr/>
          <a:lstStyle/>
          <a:p>
            <a:r>
              <a:t>NARRATION: "The team never recovered. Shockley blocked Bardeen and Brattain from the junction work. Brattain asked to be transferred. In nineteen fifty-one, Bardeen quietly left Bell Labs for the University of Illinois — where, twenty-one years later, he would win a second Nobel Prize, this time for superconductivity. The three me..."</a:t>
            </a:r>
          </a:p>
          <a:p>
            <a:r>
              <a:t>VISUAL: The three portraits side by side on black. Bardeen's portrait slides off to the left and dissolves; Brattain's slides to the right and dissolves; Shockley holds center.</a:t>
            </a:r>
          </a:p>
          <a:p>
            <a:r>
              <a:t>MOTION: static</a:t>
            </a:r>
          </a:p>
          <a:p>
            <a:r>
              <a:t>TEXT OVERLAY: 1951 — BARDEEN LEAVES BELL LABS</a:t>
            </a:r>
          </a:p>
          <a:p>
            <a:r>
              <a:t>MUSIC: Minor, resigned.</a:t>
            </a:r>
          </a:p>
          <a:p>
            <a:r>
              <a:t>TRANSITION: Crossfade 1s</a:t>
            </a:r>
          </a:p>
          <a:p>
            <a:r>
              <a:t>AUDIO: Gate 1 WAV OK — no re-record (locked single eugenics sentence)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7: The Announcement &amp; The Cold War Customer</a:t>
            </a:r>
          </a:p>
        </p:txBody>
      </p:sp>
      <p:sp>
        <p:nvSpPr>
          <p:cNvPr id="3" name="Text Placeholder 2"/>
          <p:cNvSpPr>
            <a:spLocks noGrp="1"/>
          </p:cNvSpPr>
          <p:nvPr>
            <p:ph type="body" idx="1"/>
          </p:nvPr>
        </p:nvSpPr>
        <p:spPr/>
        <p:txBody>
          <a:bodyPr/>
          <a:lstStyle/>
          <a:p>
            <a:r>
              <a:t>9:05 – 10:30 · 3 scene(s)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20: The June 1948 Press Conference (MH / NYC) (9:05-9:35 (30s))</a:t>
            </a:r>
          </a:p>
        </p:txBody>
      </p:sp>
      <p:sp>
        <p:nvSpPr>
          <p:cNvPr id="3" name="Content Placeholder 2"/>
          <p:cNvSpPr>
            <a:spLocks noGrp="1"/>
          </p:cNvSpPr>
          <p:nvPr>
            <p:ph idx="1"/>
          </p:nvPr>
        </p:nvSpPr>
        <p:spPr/>
        <p:txBody>
          <a:bodyPr/>
          <a:lstStyle/>
          <a:p>
            <a:r>
              <a:t>NARRATION: "On June thirtieth, nineteen forty-eight, Bell Labs held a press conference in New York and unveiled the transistor to the world. A Bell spokesman named Ralph Bown held up a hundred-times-scale cutaway model and explained what it did. Most of the press yawned. Newspapers buried it on inside pages. The consumer market ha..."</a:t>
            </a:r>
          </a:p>
          <a:p>
            <a:r>
              <a:t>VISUAL: AI-generated reconstruction — Ralph Bown, in a dark suit, standing at a podium holding a 100x cutaway model of the transistor up to news photographers. Flashbulbs. Black and white.</a:t>
            </a:r>
          </a:p>
          <a:p>
            <a:r>
              <a:t>MOTION: ken-burns-zoom</a:t>
            </a:r>
          </a:p>
          <a:p>
            <a:r>
              <a:t>TEXT OVERLAY: BELL LABS PRESS CONFERENCE — JUNE 30, 1948 — NEW YORK</a:t>
            </a:r>
          </a:p>
          <a:p>
            <a:r>
              <a:t>MUSIC: Brief mid-century newsreel brass motif, then pulls back.</a:t>
            </a:r>
          </a:p>
          <a:p>
            <a:r>
              <a:t>TRANSITION: Crossfade 1s</a:t>
            </a:r>
          </a:p>
          <a:p>
            <a:r>
              <a:t>AUDIO: Gate 1 WAV OK — no re-record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21: Fort Monmouth &amp; the 20-Mile Line (MH → FM) (9:35-10:00 (25s))</a:t>
            </a:r>
          </a:p>
        </p:txBody>
      </p:sp>
      <p:sp>
        <p:nvSpPr>
          <p:cNvPr id="3" name="Content Placeholder 2"/>
          <p:cNvSpPr>
            <a:spLocks noGrp="1"/>
          </p:cNvSpPr>
          <p:nvPr>
            <p:ph idx="1"/>
          </p:nvPr>
        </p:nvSpPr>
        <p:spPr/>
        <p:txBody>
          <a:bodyPr/>
          <a:lstStyle/>
          <a:p>
            <a:r>
              <a:t>NARRATION: "Twenty miles down the road, at the U.S. Army Signal Corps Laboratories at Fort Monmouth, the Cold War was already on. The Army needed smaller, lighter, tougher field radios — and vacuum tubes couldn't cut it. Fort Monmouth became one of the earliest serious customers for the transistor, pouring defense money into Bell..."</a:t>
            </a:r>
          </a:p>
          <a:p>
            <a:r>
              <a:t>VISUAL: Map graphic — clean line drawn from Murray Hill NJ down to Fort Monmouth NJ, '20 MILES' labeled. Dissolve to archival Signal Corps Center, Fort Monmouth, 1949 (Commons PD). Dissolve to a hero shot of the AN/PRC-25 (PD).</a:t>
            </a:r>
          </a:p>
          <a:p>
            <a:r>
              <a:t>MOTION: ken-burns-zoom</a:t>
            </a:r>
          </a:p>
          <a:p>
            <a:r>
              <a:t>TEXT OVERLAY: U.S. ARMY SIGNAL CORPS LABORATORIES — FORT MONMOUTH, NJ (on Signal Corps photo); then 'THE SINGLE MOST IMPORTANT TACTICAL ITEM IN VIETNAM' — GEN. CREIGHTON ABRAMS (on PRC-25 hero, 6s)</a:t>
            </a:r>
          </a:p>
          <a:p>
            <a:r>
              <a:t>MUSIC: Steady, building.</a:t>
            </a:r>
          </a:p>
          <a:p>
            <a:r>
              <a:t>TRANSITION: Crossfade 1s</a:t>
            </a:r>
          </a:p>
          <a:p>
            <a:r>
              <a:t>AUDIO: Gate 2 RE-RECORD — dropped 'for soldiers'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22: InfoAge at Camp Evans (creator callback) (FM) (10:00-10:30 (30s))</a:t>
            </a:r>
          </a:p>
        </p:txBody>
      </p:sp>
      <p:sp>
        <p:nvSpPr>
          <p:cNvPr id="3" name="Content Placeholder 2"/>
          <p:cNvSpPr>
            <a:spLocks noGrp="1"/>
          </p:cNvSpPr>
          <p:nvPr>
            <p:ph idx="1"/>
          </p:nvPr>
        </p:nvSpPr>
        <p:spPr/>
        <p:txBody>
          <a:bodyPr/>
          <a:lstStyle/>
          <a:p>
            <a:r>
              <a:t>NARRATION: "You can still walk onto a piece of that story today. The old Signal Corps radar base at Camp Evans, in Wall Township, is now called InfoAge — a volunteer-run museum on the original ground where the Army tracked enemy aircraft and bounced radar off the moon. Inside one of those buildings, under glass, sit some of the ea..."</a:t>
            </a:r>
          </a:p>
          <a:p>
            <a:r>
              <a:t>VISUAL: Creator-owned photographs of InfoAge Science &amp; History Museums — exterior of the Marconi-era buildings at Camp Evans; creator-owned close-up photo of the early transistor artifacts on display at InfoAge; possible creator drone of the Camp E...</a:t>
            </a:r>
          </a:p>
          <a:p>
            <a:r>
              <a:t>MOTION: ken-burns-zoom</a:t>
            </a:r>
          </a:p>
          <a:p>
            <a:r>
              <a:t>TEXT OVERLAY: INFOAGE SCIENCE &amp; HISTORY MUSEUMS — CAMP EVANS — WALL TOWNSHIP, NJ (lower-third)</a:t>
            </a:r>
          </a:p>
          <a:p>
            <a:r>
              <a:t>MUSIC: Warms — a quiet pride note.</a:t>
            </a:r>
          </a:p>
          <a:p>
            <a:r>
              <a:t>TRANSITION: Crossfade 1s</a:t>
            </a:r>
          </a:p>
          <a:p>
            <a:r>
              <a:t>AUDIO: Gate 1 WAV OK — no re-record (locked InfoAge callback)</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8: 1956 — The Nobel and the Decree</a:t>
            </a:r>
          </a:p>
        </p:txBody>
      </p:sp>
      <p:sp>
        <p:nvSpPr>
          <p:cNvPr id="3" name="Text Placeholder 2"/>
          <p:cNvSpPr>
            <a:spLocks noGrp="1"/>
          </p:cNvSpPr>
          <p:nvPr>
            <p:ph type="body" idx="1"/>
          </p:nvPr>
        </p:nvSpPr>
        <p:spPr/>
        <p:txBody>
          <a:bodyPr/>
          <a:lstStyle/>
          <a:p>
            <a:r>
              <a:t>10:30 – 11:25 · 2 scene(s)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23: Nobel (Stockholm) (10:30-10:50 (20s))</a:t>
            </a:r>
          </a:p>
        </p:txBody>
      </p:sp>
      <p:sp>
        <p:nvSpPr>
          <p:cNvPr id="3" name="Content Placeholder 2"/>
          <p:cNvSpPr>
            <a:spLocks noGrp="1"/>
          </p:cNvSpPr>
          <p:nvPr>
            <p:ph idx="1"/>
          </p:nvPr>
        </p:nvSpPr>
        <p:spPr/>
        <p:txBody>
          <a:bodyPr/>
          <a:lstStyle/>
          <a:p>
            <a:r>
              <a:t>NARRATION: "In December of nineteen fifty-six, in Stockholm, William Shockley, John Bardeen, and Walter Brattain shared the Nobel Prize in Physics. It was the first time in years the three of them had stood on the same stage. By most accounts, they did not quite look at each other."</a:t>
            </a:r>
          </a:p>
          <a:p>
            <a:r>
              <a:t>VISUAL: Three Nobel PD portraits — Shockley, Bardeen, Brattain — arranged sequentially with Stockholm 1956 date-stamp animation. (No free group ceremony shot exists; the triptych substitutes.)</a:t>
            </a:r>
          </a:p>
          <a:p>
            <a:r>
              <a:t>MOTION: ken-burns-zoom</a:t>
            </a:r>
          </a:p>
          <a:p>
            <a:r>
              <a:t>TEXT OVERLAY: NOBEL PRIZE IN PHYSICS — STOCKHOLM — DECEMBER 1956</a:t>
            </a:r>
          </a:p>
          <a:p>
            <a:r>
              <a:t>MUSIC: Ceremonial, but restrained.</a:t>
            </a:r>
          </a:p>
          <a:p>
            <a:r>
              <a:t>TRANSITION: Crossfade 1s</a:t>
            </a:r>
          </a:p>
          <a:p>
            <a:r>
              <a:t>AUDIO: Gate 1 WAV OK — no re-record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24: The Consent Decree (legal + metaphor) (10:50-11:25 (35s))</a:t>
            </a:r>
          </a:p>
        </p:txBody>
      </p:sp>
      <p:sp>
        <p:nvSpPr>
          <p:cNvPr id="3" name="Content Placeholder 2"/>
          <p:cNvSpPr>
            <a:spLocks noGrp="1"/>
          </p:cNvSpPr>
          <p:nvPr>
            <p:ph idx="1"/>
          </p:nvPr>
        </p:nvSpPr>
        <p:spPr/>
        <p:txBody>
          <a:bodyPr/>
          <a:lstStyle/>
          <a:p>
            <a:r>
              <a:t>NARRATION: "But the bigger thing that happened to the transistor in nineteen fifty-six was not the Nobel. It was a federal courtroom. To settle a seven-year antitrust case, AT&amp;T signed a consent decree forcing it to license every patent in its vault — more than seven thousand of them, including the transistor — to any American com..."</a:t>
            </a:r>
          </a:p>
          <a:p>
            <a:r>
              <a:t>VISUAL: Stylized legal document — header 'UNITED STATES v. WESTERN ELECTRIC — CONSENT DECREE — JANUARY 24, 1956.' Key phrases animate in: '7,820 PATENTS', 'ALL AMERICAN COMPANIES', 'NOMINAL LICENSE FEE'. Dissolve to AI metaphor shot — stone dam, hu...</a:t>
            </a:r>
          </a:p>
          <a:p>
            <a:r>
              <a:t>MOTION: ken-burns-zoom</a:t>
            </a:r>
          </a:p>
          <a:p>
            <a:r>
              <a:t>TEXT OVERLAY: Pull-quote — 'One of the most important developments for the commercial semiconductor industry.' — GORDON MOORE</a:t>
            </a:r>
          </a:p>
          <a:p>
            <a:r>
              <a:t>MUSIC: Swells — this is the turning point.</a:t>
            </a:r>
          </a:p>
          <a:p>
            <a:r>
              <a:t>TRANSITION: Hard cut (no crossfade) — energy shift into diaspora</a:t>
            </a:r>
          </a:p>
          <a:p>
            <a:r>
              <a:t>AUDIO: Gate 2 RE-RECORD — compressed 'the more consequential thing' meta-framing; AT&amp;T/Justice-Department framing tightened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9: The Diaspora</a:t>
            </a:r>
          </a:p>
        </p:txBody>
      </p:sp>
      <p:sp>
        <p:nvSpPr>
          <p:cNvPr id="3" name="Text Placeholder 2"/>
          <p:cNvSpPr>
            <a:spLocks noGrp="1"/>
          </p:cNvSpPr>
          <p:nvPr>
            <p:ph type="body" idx="1"/>
          </p:nvPr>
        </p:nvSpPr>
        <p:spPr/>
        <p:txBody>
          <a:bodyPr/>
          <a:lstStyle/>
          <a:p>
            <a:r>
              <a:t>11:25 – 12:35 · 2 scene(s)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25: Shockley Goes West &amp; the Walkout (MH → Mountain View) — COMBINED (11:25-12:00 (35s))</a:t>
            </a:r>
          </a:p>
        </p:txBody>
      </p:sp>
      <p:sp>
        <p:nvSpPr>
          <p:cNvPr id="3" name="Content Placeholder 2"/>
          <p:cNvSpPr>
            <a:spLocks noGrp="1"/>
          </p:cNvSpPr>
          <p:nvPr>
            <p:ph idx="1"/>
          </p:nvPr>
        </p:nvSpPr>
        <p:spPr/>
        <p:txBody>
          <a:bodyPr/>
          <a:lstStyle/>
          <a:p>
            <a:r>
              <a:t>NARRATION: "Later that same year, Shockley left Bell Labs and opened Shockley Semiconductor in Mountain View, California. He recruited eight of the sharpest young PhDs in the country. He was also, it turned out, one of the worst managers the industry had ever seen — paranoid, combative, given to requiring his employees to submit t..."</a:t>
            </a:r>
          </a:p>
          <a:p>
            <a:r>
              <a:t>VISUAL: Map animation — Murray Hill NJ pin, single line drawn across the continent to Mountain View CA. Smaller pin drops. Period AI-generated exterior of Shockley Semiconductor Laboratory storefront in Mountain View, late 1950s. Dissolve to compos...</a:t>
            </a:r>
          </a:p>
          <a:p>
            <a:r>
              <a:t>MOTION: ken-burns-zoom</a:t>
            </a:r>
          </a:p>
          <a:p>
            <a:r>
              <a:t>TEXT OVERLAY: SHOCKLEY SEMICONDUCTOR LABORATORY — MOUNTAIN VIEW, CA — 1956 (first half); names under each portrait JULIUS BLANK / VICTOR GRINICH / JEAN HOERNI / EUGENE KLEINER / JAY LAST / GORDON MOORE / ROBERT NOYCE / C. SHELDON ROBERTS; date sting SEPTEMBER 18, 1957 (second half)</a:t>
            </a:r>
          </a:p>
          <a:p>
            <a:r>
              <a:t>MUSIC: Travel motif lifts, turns tense, then decisive on the walkout — biggest musical payoff besides the demo scene.</a:t>
            </a:r>
          </a:p>
          <a:p>
            <a:r>
              <a:t>TRANSITION: Crossfade 1s</a:t>
            </a:r>
          </a:p>
          <a:p>
            <a:r>
              <a:t>AUDIO: Gate 2 RE-RECORD — NEW COMBINED narration (was old Scenes 25 + 26). Less enumeration; 4x2 composite grid carries the eight names visually.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26: The Payoff Beat (map) — was Scene 27 (12:00-12:35 (35s))</a:t>
            </a:r>
          </a:p>
        </p:txBody>
      </p:sp>
      <p:sp>
        <p:nvSpPr>
          <p:cNvPr id="3" name="Content Placeholder 2"/>
          <p:cNvSpPr>
            <a:spLocks noGrp="1"/>
          </p:cNvSpPr>
          <p:nvPr>
            <p:ph idx="1"/>
          </p:nvPr>
        </p:nvSpPr>
        <p:spPr/>
        <p:txBody>
          <a:bodyPr/>
          <a:lstStyle/>
          <a:p>
            <a:r>
              <a:t>NARRATION: "Eleven years later, in nineteen sixty-eight, two of those eight — Robert Noyce and Gordon Moore — left Fairchild and started Intel. Eugene Kleiner co-founded Kleiner Perkins, the venture firm that funded most of what came next. The others seeded AMD, National Semiconductor, and dozens more. Silicon Valley, the place an..."</a:t>
            </a:r>
          </a:p>
          <a:p>
            <a:r>
              <a:t>VISUAL: Fast logo sequence — Fairchild → Intel (1968) → AMD → Kleiner Perkins. Pan to a satellite view of Silicon Valley, which slowly pulls back across the continent until the continental U.S. fills the frame. A single pin pulses on Murray Hill, N...</a:t>
            </a:r>
          </a:p>
          <a:p>
            <a:r>
              <a:t>MOTION: ken-burns-pan</a:t>
            </a:r>
          </a:p>
          <a:p>
            <a:r>
              <a:t>TEXT OVERLAY: FAIRCHILD → INTEL (1968) → AMD → KLEINER PERKINS → THE VALLEY</a:t>
            </a:r>
          </a:p>
          <a:p>
            <a:r>
              <a:t>MUSIC: The emotional climax of the thesis. Let it breathe.</a:t>
            </a:r>
          </a:p>
          <a:p>
            <a:r>
              <a:t>TRANSITION: Crossfade 1s</a:t>
            </a:r>
          </a:p>
          <a:p>
            <a:r>
              <a:t>AUDIO: Gate 2 RE-RECORD — tightened Noyce/Moore/Kleiner enumeration. THESIS LINE PRESERVED VERBATIM: 'Silicon Valley came from Jersey. It just built a better brand.'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10: What It Became</a:t>
            </a:r>
          </a:p>
        </p:txBody>
      </p:sp>
      <p:sp>
        <p:nvSpPr>
          <p:cNvPr id="3" name="Text Placeholder 2"/>
          <p:cNvSpPr>
            <a:spLocks noGrp="1"/>
          </p:cNvSpPr>
          <p:nvPr>
            <p:ph type="body" idx="1"/>
          </p:nvPr>
        </p:nvSpPr>
        <p:spPr/>
        <p:txBody>
          <a:bodyPr/>
          <a:lstStyle/>
          <a:p>
            <a:r>
              <a:t>12:35 – 13:15 · 2 scene(s)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27: The Count-Up (motion graphic) — was Scene 28 (12:35-13:00 (25s))</a:t>
            </a:r>
          </a:p>
        </p:txBody>
      </p:sp>
      <p:sp>
        <p:nvSpPr>
          <p:cNvPr id="3" name="Content Placeholder 2"/>
          <p:cNvSpPr>
            <a:spLocks noGrp="1"/>
          </p:cNvSpPr>
          <p:nvPr>
            <p:ph idx="1"/>
          </p:nvPr>
        </p:nvSpPr>
        <p:spPr/>
        <p:txBody>
          <a:bodyPr/>
          <a:lstStyle/>
          <a:p>
            <a:r>
              <a:t>NARRATION: "One transistor on a bench in nineteen forty-seven. Today, Apple's M-three Max processor packs about ninety-two billion transistors onto a single chip the size of a postage stamp. The descendants of that device have shrunk by a factor of about a hundred million and gotten roughly a trillion times cheaper. Every phone, e..."</a:t>
            </a:r>
          </a:p>
          <a:p>
            <a:r>
              <a:t>VISUAL: Motion graphic — counter starts at '1' over a tiny image of the 1947 device, then accelerates: 1971 Intel 4004 (2,300), 1989 486 (~1.2M), 2000 Pentium 4 (~42M), 2010 (~1B), 2023 Apple M3 Max (~92B). Ends on an AI macro shot of a modern sili...</a:t>
            </a:r>
          </a:p>
          <a:p>
            <a:r>
              <a:t>MOTION: gentle-zoom</a:t>
            </a:r>
          </a:p>
          <a:p>
            <a:r>
              <a:t>TEXT OVERLAY: Counter IS the text; final sting APPLE M3 MAX — 92,000,000,000</a:t>
            </a:r>
          </a:p>
          <a:p>
            <a:r>
              <a:t>MUSIC: Forward momentum, inspired.</a:t>
            </a:r>
          </a:p>
          <a:p>
            <a:r>
              <a:t>TRANSITION: Crossfade 1s</a:t>
            </a:r>
          </a:p>
          <a:p>
            <a:r>
              <a:t>AUDIO: Gate 2 RE-RECORD — compressed 'between November and December of nineteen forty-seven' → 'in the winter of nineteen forty-seven'; removed duplicated 'all of it, all of it'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28: The Quiet Line (title) — was Scene 29 (13:00-13:15 (15s))</a:t>
            </a:r>
          </a:p>
        </p:txBody>
      </p:sp>
      <p:sp>
        <p:nvSpPr>
          <p:cNvPr id="3" name="Content Placeholder 2"/>
          <p:cNvSpPr>
            <a:spLocks noGrp="1"/>
          </p:cNvSpPr>
          <p:nvPr>
            <p:ph idx="1"/>
          </p:nvPr>
        </p:nvSpPr>
        <p:spPr/>
        <p:txBody>
          <a:bodyPr/>
          <a:lstStyle/>
          <a:p>
            <a:r>
              <a:t>NARRATION: "Moore's Law is, in the end, a seventy-seven-year story of one demonstration compounding."</a:t>
            </a:r>
          </a:p>
          <a:p>
            <a:r>
              <a:t>VISUAL: Black frame. A single line of white serif text fades in, centered.</a:t>
            </a:r>
          </a:p>
          <a:p>
            <a:r>
              <a:t>MOTION: static</a:t>
            </a:r>
          </a:p>
          <a:p>
            <a:r>
              <a:t>TEXT OVERLAY: 77 YEARS. ONE DEMO.</a:t>
            </a:r>
          </a:p>
          <a:p>
            <a:r>
              <a:t>MUSIC: Drops to a sustained pad.</a:t>
            </a:r>
          </a:p>
          <a:p>
            <a:r>
              <a:t>TRANSITION: Slow fade 1.5s</a:t>
            </a:r>
          </a:p>
          <a:p>
            <a:r>
              <a:t>AUDIO: Gate 1 WAV OK — no re-record (locked quiet-line)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11: Closing Bookend</a:t>
            </a:r>
          </a:p>
        </p:txBody>
      </p:sp>
      <p:sp>
        <p:nvSpPr>
          <p:cNvPr id="3" name="Text Placeholder 2"/>
          <p:cNvSpPr>
            <a:spLocks noGrp="1"/>
          </p:cNvSpPr>
          <p:nvPr>
            <p:ph type="body" idx="1"/>
          </p:nvPr>
        </p:nvSpPr>
        <p:spPr/>
        <p:txBody>
          <a:bodyPr/>
          <a:lstStyle/>
          <a:p>
            <a:r>
              <a:t>13:15 – 13:45 · 1 scene(s)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29: Back to the Drone (HD → FM) — was Scene 30 (13:15-13:45 (30s))</a:t>
            </a:r>
          </a:p>
        </p:txBody>
      </p:sp>
      <p:sp>
        <p:nvSpPr>
          <p:cNvPr id="3" name="Content Placeholder 2"/>
          <p:cNvSpPr>
            <a:spLocks noGrp="1"/>
          </p:cNvSpPr>
          <p:nvPr>
            <p:ph idx="1"/>
          </p:nvPr>
        </p:nvSpPr>
        <p:spPr/>
        <p:txBody>
          <a:bodyPr/>
          <a:lstStyle/>
          <a:p>
            <a:r>
              <a:t>NARRATION: "So come back to the ground. The sculpture in Holmdel is still there. The mirrored Bell Works building, once Bell Labs' palace on a hill, is still standing, because a developer named Somerset bought it in twenty-thirteen for twenty-seven million dollars and filled it with startups. And twenty miles south of it, on the s..."</a:t>
            </a:r>
          </a:p>
          <a:p>
            <a:r>
              <a:t>VISUAL: Creator drone footage returns. Transistor Monument in foreground, Saarinen Bell Works behind it. Slow pullback. Cross-cut to Netflix Fort Monmouth construction — cranes, foundations, soil being moved (AI rendering or creator b-roll if avail...</a:t>
            </a:r>
          </a:p>
          <a:p>
            <a:r>
              <a:t>MOTION: ken-burns-zoom</a:t>
            </a:r>
          </a:p>
          <a:p>
            <a:r>
              <a:t>TEXT OVERLAY: NETFLIX STUDIOS FORT MONMOUTH — $1B — 12 SOUNDSTAGES — PHASE 1A OPENS 2027 (lower-third, 6s on Netflix cut)</a:t>
            </a:r>
          </a:p>
          <a:p>
            <a:r>
              <a:t>MUSIC: Returns to the opening theme, fuller. Resolves fully on the final line.</a:t>
            </a:r>
          </a:p>
          <a:p>
            <a:r>
              <a:t>TRANSITION: Slow fade 1.5s + brief silence before Ep 2 card</a:t>
            </a:r>
          </a:p>
          <a:p>
            <a:r>
              <a:t>AUDIO: Gate 1 WAV OK — no re-record (locked closing bookend)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12: Ep 2 Outro</a:t>
            </a:r>
          </a:p>
        </p:txBody>
      </p:sp>
      <p:sp>
        <p:nvSpPr>
          <p:cNvPr id="3" name="Text Placeholder 2"/>
          <p:cNvSpPr>
            <a:spLocks noGrp="1"/>
          </p:cNvSpPr>
          <p:nvPr>
            <p:ph type="body" idx="1"/>
          </p:nvPr>
        </p:nvSpPr>
        <p:spPr/>
        <p:txBody>
          <a:bodyPr/>
          <a:lstStyle/>
          <a:p>
            <a:r>
              <a:t>13:45 – 13:55 · 1 scene(s)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30: Next Episode End Card — was Scene 31 (13:45-13:55 (10s))</a:t>
            </a:r>
          </a:p>
        </p:txBody>
      </p:sp>
      <p:sp>
        <p:nvSpPr>
          <p:cNvPr id="3" name="Content Placeholder 2"/>
          <p:cNvSpPr>
            <a:spLocks noGrp="1"/>
          </p:cNvSpPr>
          <p:nvPr>
            <p:ph idx="1"/>
          </p:nvPr>
        </p:nvSpPr>
        <p:spPr/>
        <p:txBody>
          <a:bodyPr/>
          <a:lstStyle/>
          <a:p>
            <a:r>
              <a:t>NARRATION: "But a transistor alone is just a switch. It needs something to live on. Next time on The Jersey Stack — the circuit board."</a:t>
            </a:r>
          </a:p>
          <a:p>
            <a:r>
              <a:t>VISUAL: Quick two-shot montage — extreme macro of a 1950s printed circuit board with copper traces; cut to a modern high-density PCB. End card: 'THE JERSEY STACK — EPISODE 2 — THE CIRCUIT BOARD — COMING SOON.' Series logo.</a:t>
            </a:r>
          </a:p>
          <a:p>
            <a:r>
              <a:t>MOTION: static</a:t>
            </a:r>
          </a:p>
          <a:p>
            <a:r>
              <a:t>TEXT OVERLAY: EPISODE 2 — THE CIRCUIT BOARD (animates in on end card)</a:t>
            </a:r>
          </a:p>
          <a:p>
            <a:r>
              <a:t>MUSIC: Punchy tag, cuts out clean.</a:t>
            </a:r>
          </a:p>
          <a:p>
            <a:r>
              <a:t>TRANSITION: Cut to black — end of episode</a:t>
            </a:r>
          </a:p>
          <a:p>
            <a:r>
              <a:t>AUDIO: Gate 2 RE-RECORD — Ep 2 renamed 'The Circuit Board' (was 'The Board')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Production Plan Summary (Gate 2)</a:t>
            </a:r>
          </a:p>
        </p:txBody>
      </p:sp>
      <p:sp>
        <p:nvSpPr>
          <p:cNvPr id="3" name="Content Placeholder 2"/>
          <p:cNvSpPr>
            <a:spLocks noGrp="1"/>
          </p:cNvSpPr>
          <p:nvPr>
            <p:ph idx="1"/>
          </p:nvPr>
        </p:nvSpPr>
        <p:spPr/>
        <p:txBody>
          <a:bodyPr/>
          <a:lstStyle/>
          <a:p>
            <a:r>
              <a:t>Chapters: 12  ·  Scenes: 30</a:t>
            </a:r>
          </a:p>
          <a:p>
            <a:r>
              <a:t>Estimated narration runtime: ~14:45 (visual budget ~14:10)</a:t>
            </a:r>
          </a:p>
          <a:p>
            <a:r>
              <a:t>Word count: ~1,940 (was ~2,100 at Gate 1)</a:t>
            </a:r>
          </a:p>
          <a:p>
            <a:r>
              <a:t>Re-record list (new IDs): 5, 6, 7, 8, 9, 13, 17, 18, 21, 24, 25, 26, 27, 30</a:t>
            </a:r>
          </a:p>
          <a:p>
            <a:r>
              <a:t>No re-record (byte-identical): 1, 2, 3, 4, 10, 11, 12, 14, 15, 16, 19, 20, 22, 23, 28, 29</a:t>
            </a:r>
          </a:p>
          <a:p>
            <a:r>
              <a:t>Creator-provided assets: Scenes 1, 22, 29 (Holmdel drone + InfoAge)</a:t>
            </a:r>
          </a:p>
          <a:p>
            <a:r>
              <a:t>Narration voice: ElevenLabs Josh (TxGEqnHWrfWFTfGW9XjX)</a:t>
            </a:r>
          </a:p>
          <a:p>
            <a:r>
              <a:t>Severance clip (Scene 2): fair-use USE (locked).</a:t>
            </a:r>
          </a:p>
          <a:p>
            <a:r>
              <a:t>Ep 2 title: 'The Circuit Board' (locked at Gate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